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Inter Medium"/>
      <p:regular r:id="rId201323"/>
    </p:embeddedFont>
    <p:embeddedFont>
      <p:font typeface="Inter Light"/>
      <p:regular r:id="rId201324"/>
    </p:embeddedFont>
    <p:embeddedFont>
      <p:font typeface="Inter Thin"/>
      <p:regular r:id="rId201325"/>
    </p:embeddedFont>
    <p:embeddedFont>
      <p:font typeface="Inter ExtraLight"/>
      <p:regular r:id="rId201326"/>
    </p:embeddedFont>
    <p:embeddedFont>
      <p:font typeface="Inter SemiBold"/>
      <p:regular r:id="rId201327"/>
    </p:embeddedFont>
    <p:embeddedFont>
      <p:font typeface="Inter Bold"/>
      <p:regular r:id="rId201328"/>
    </p:embeddedFont>
    <p:embeddedFont>
      <p:font typeface="Inter ExtraBold"/>
      <p:regular r:id="rId201329"/>
    </p:embeddedFont>
    <p:embeddedFont>
      <p:font typeface="Inter"/>
      <p:regular r:id="rId201330"/>
    </p:embeddedFont>
    <p:embeddedFont>
      <p:font typeface="Inter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5.png"/><Relationship Id="rId8" Type="http://schemas.openxmlformats.org/officeDocument/2006/relationships/image" Target="../media/image-3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4292"/>
            <a:ext cx="67460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Employee Leave Management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9880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 Digital Leave Approval &amp; Tracking Platform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309525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modern, web-based HR solution built to digitise leave applications, automate approval workflows, and centralise employee leave monitoring — designed for efficiency, transparency, and scalability.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743771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957712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project CRT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2105"/>
            <a:ext cx="1328812" cy="244376"/>
          </a:xfrm>
          <a:prstGeom prst="roundRect">
            <a:avLst>
              <a:gd name="adj" fmla="val 652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5816" y="451917"/>
            <a:ext cx="1626617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06264"/>
            <a:ext cx="7749034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Challenge with Manual Leave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6119" y="1308422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Organisations still relying on paper-based and manual leave processes face significant bottlenecks that impact both HR productivity and employee experience.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60500"/>
            <a:ext cx="4013597" cy="13731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45" y="1960141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3310" y="2392114"/>
            <a:ext cx="204943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Paper-Based Applications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3310" y="2674516"/>
            <a:ext cx="37192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leave forms are error-prone, easily misplaced, and difficult to store or retrieve when needed.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285" y="1860500"/>
            <a:ext cx="4013597" cy="13731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1311" y="1960141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781476" y="239211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Approval Delays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81476" y="2674516"/>
            <a:ext cx="37192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routing between employees, managers, and HR creates unnecessary lag in decision-making.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58232"/>
            <a:ext cx="4013597" cy="1373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23145" y="345787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43310" y="3889846"/>
            <a:ext cx="186608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 Centralised Tracking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3310" y="4172248"/>
            <a:ext cx="37192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records are scattered across departments, making monitoring and reconciliation a persistent challenge.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4285" y="3358232"/>
            <a:ext cx="4013597" cy="13731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61311" y="345787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781476" y="388984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Lack of Visibility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81476" y="4172248"/>
            <a:ext cx="371921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have no real-time view of who is on leave, leading to staffing gaps and disrupted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976"/>
            <a:ext cx="1399133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442466"/>
            <a:ext cx="16862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3081"/>
            <a:ext cx="79431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 Unified Digital Leave Management Platform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378669"/>
            <a:ext cx="3427288" cy="3364855"/>
          </a:xfrm>
          <a:prstGeom prst="roundRect">
            <a:avLst>
              <a:gd name="adj" fmla="val 632"/>
            </a:avLst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1520428"/>
            <a:ext cx="23136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Digital-First Approach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1883643"/>
            <a:ext cx="31437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web-based system replaces manual, paper-driven processes with a seamless digital workflow — from application to approval — accessible anytime, anywhere.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0804" y="1519089"/>
            <a:ext cx="2221781" cy="15300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49713" y="1538139"/>
            <a:ext cx="202287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Digital Leave Application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249713" y="2122810"/>
            <a:ext cx="202287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submit leave requests online with supporting details and justifications.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0714" y="1519089"/>
            <a:ext cx="2221855" cy="15300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623" y="1538139"/>
            <a:ext cx="202294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Approval Workflow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629623" y="2122810"/>
            <a:ext cx="2022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route instantly to admins for review, approval, or rejection — no paperwork involved.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0804" y="3294534"/>
            <a:ext cx="2221781" cy="13085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49713" y="3313584"/>
            <a:ext cx="202287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Status Tracking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249713" y="3898255"/>
            <a:ext cx="20228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and admins track leave status live through an intuitive dashboard interface.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714" y="3294534"/>
            <a:ext cx="2221855" cy="130857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9623" y="3313584"/>
            <a:ext cx="19209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Centralised Dashboard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629623" y="3676799"/>
            <a:ext cx="2022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pane of glass for administrators to oversee all employee leave activities and records.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68548"/>
            <a:ext cx="1357759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811039"/>
            <a:ext cx="16448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91654"/>
            <a:ext cx="56684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Built on a Robust Modern Stack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4724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leverages industry-standard technologies across the full development lifecycle, ensuring performance, maintainability, and scalability.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50209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865313"/>
            <a:ext cx="248632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&amp; CSS3 for semantic structure and styling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for responsive, mobile-first UI components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for dynamic client-side interactions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3080" y="250209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33080" y="2865313"/>
            <a:ext cx="248632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— reliable, object-oriented core language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for rapid enterprise-grade API development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Data JPA for streamlined database operations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0042" y="250209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 &amp; Tools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0042" y="2865313"/>
            <a:ext cx="248632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— relational database for persistent storage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APIs for clean client-server communication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 for dependency management and builds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8150"/>
            <a:ext cx="1418332" cy="239018"/>
          </a:xfrm>
          <a:prstGeom prst="roundRect">
            <a:avLst>
              <a:gd name="adj" fmla="val 6561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4477" y="477292"/>
            <a:ext cx="17188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25314"/>
            <a:ext cx="592484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Data Flow Architecture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57598"/>
            <a:ext cx="4339977" cy="18746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1742" y="3113902"/>
            <a:ext cx="644413" cy="234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 Dashboard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531742" y="3382022"/>
            <a:ext cx="644413" cy="180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for employees and admins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3186428" y="3113902"/>
            <a:ext cx="644413" cy="234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Spring Boot Backend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186428" y="3382022"/>
            <a:ext cx="644413" cy="180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requests and routing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06453" y="2026754"/>
            <a:ext cx="644413" cy="234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Employee Login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06453" y="2294873"/>
            <a:ext cx="644413" cy="180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user credentials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3987135" y="2026754"/>
            <a:ext cx="644413" cy="234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Logic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87135" y="2294873"/>
            <a:ext cx="644413" cy="180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rules and validations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2369355" y="2026754"/>
            <a:ext cx="644413" cy="117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APIs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369355" y="2177506"/>
            <a:ext cx="644413" cy="180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 endpoints for UI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496119" y="3867745"/>
            <a:ext cx="4339977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has clearly defined responsibilities, ensuring separation of concerns and maintainability throughout the system.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59648" y="1434852"/>
            <a:ext cx="2231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Architecture Highlights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159648" y="1774478"/>
            <a:ext cx="294010" cy="294010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19" name="Text 16"/>
          <p:cNvSpPr/>
          <p:nvPr/>
        </p:nvSpPr>
        <p:spPr>
          <a:xfrm>
            <a:off x="5574134" y="181934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Client Tier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574134" y="2143944"/>
            <a:ext cx="307843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and admins interact via a responsive web dashboard served over HTTP.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159648" y="2786583"/>
            <a:ext cx="294010" cy="294010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22" name="Text 19"/>
          <p:cNvSpPr/>
          <p:nvPr/>
        </p:nvSpPr>
        <p:spPr>
          <a:xfrm>
            <a:off x="5574134" y="283145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574134" y="3156049"/>
            <a:ext cx="307843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endpoints handle all incoming requests with standardised JSON payloads.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159648" y="3798689"/>
            <a:ext cx="294010" cy="294010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25" name="Text 22"/>
          <p:cNvSpPr/>
          <p:nvPr/>
        </p:nvSpPr>
        <p:spPr>
          <a:xfrm>
            <a:off x="5574134" y="384356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Persistence Layer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574134" y="4168155"/>
            <a:ext cx="307843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Data JPA repositories map entities to MySQL tables with minimal boilerplate.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940817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1313036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MODULES &amp; WORKFLOW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36757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Heart of the System — Leave Workflow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797" y="789012"/>
            <a:ext cx="6298332" cy="4340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80542" y="3489779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Apply Leave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47219" y="1667100"/>
            <a:ext cx="1777080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Send to Admin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40176" y="4023590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 Review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67990" y="2146906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Approve / Reject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5169247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organised around five core modules — Employee Management, Leave Application, Leave Approval/Rejection, Leave Tracking, and Reports &amp; Dashboard — each supporting a seamless end-to-end leave lifecycle from request to resolution.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3823"/>
            <a:ext cx="999827" cy="154409"/>
          </a:xfrm>
          <a:prstGeom prst="roundRect">
            <a:avLst>
              <a:gd name="adj" fmla="val 723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51929" y="491728"/>
            <a:ext cx="1345406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&amp; API DESIGN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642640"/>
            <a:ext cx="4468416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Relational Schema &amp; REST Endpoints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6119" y="1085924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1299939"/>
            <a:ext cx="3794820" cy="1058466"/>
          </a:xfrm>
          <a:prstGeom prst="roundRect">
            <a:avLst>
              <a:gd name="adj" fmla="val 13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3899" y="1346076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Table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899" y="1556817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employeeId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899" y="1767557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employeeName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3899" y="1978298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3899" y="2189038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designation &amp; email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96119" y="2450306"/>
            <a:ext cx="3794820" cy="9525"/>
          </a:xfrm>
          <a:prstGeom prst="roundRect">
            <a:avLst>
              <a:gd name="adj" fmla="val 60000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6119" y="2551733"/>
            <a:ext cx="3794820" cy="1058466"/>
          </a:xfrm>
          <a:prstGeom prst="roundRect">
            <a:avLst>
              <a:gd name="adj" fmla="val 13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899" y="2597869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Leave Table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899" y="2808610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leaveId, employeeId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3899" y="3019351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leaveType &amp; reason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899" y="3230091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startDate &amp; endDate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3899" y="3440832"/>
            <a:ext cx="40564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455691" y="1024905"/>
            <a:ext cx="4263851" cy="3654772"/>
          </a:xfrm>
          <a:prstGeom prst="roundRect">
            <a:avLst>
              <a:gd name="adj" fmla="val 382"/>
            </a:avLst>
          </a:prstGeom>
          <a:solidFill>
            <a:srgbClr val="101014"/>
          </a:solidFill>
          <a:ln/>
        </p:spPr>
      </p:sp>
      <p:sp>
        <p:nvSpPr>
          <p:cNvPr id="20" name="Text 18"/>
          <p:cNvSpPr/>
          <p:nvPr/>
        </p:nvSpPr>
        <p:spPr>
          <a:xfrm>
            <a:off x="4548708" y="1085924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API Endpoints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48708" y="1299939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48708" y="1448470"/>
            <a:ext cx="4077816" cy="9525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3" name="Text 21"/>
          <p:cNvSpPr/>
          <p:nvPr/>
        </p:nvSpPr>
        <p:spPr>
          <a:xfrm>
            <a:off x="4548708" y="1514029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 /employees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48708" y="1720379"/>
            <a:ext cx="40778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 new employee profile in the system.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48708" y="1974354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48708" y="2122884"/>
            <a:ext cx="4077816" cy="9525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7" name="Text 25"/>
          <p:cNvSpPr/>
          <p:nvPr/>
        </p:nvSpPr>
        <p:spPr>
          <a:xfrm>
            <a:off x="4548708" y="218844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GET /employees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48708" y="2394793"/>
            <a:ext cx="40778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a list of all registered employees.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48708" y="2648769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48708" y="2797299"/>
            <a:ext cx="4077816" cy="9525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31" name="Text 29"/>
          <p:cNvSpPr/>
          <p:nvPr/>
        </p:nvSpPr>
        <p:spPr>
          <a:xfrm>
            <a:off x="4548708" y="286285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 /leave/apply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48708" y="3069208"/>
            <a:ext cx="40778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a new leave request with full details.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48708" y="3323183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48708" y="3471714"/>
            <a:ext cx="4077816" cy="9525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35" name="Text 33"/>
          <p:cNvSpPr/>
          <p:nvPr/>
        </p:nvSpPr>
        <p:spPr>
          <a:xfrm>
            <a:off x="4548708" y="3537272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GET /leave/requests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48708" y="3743623"/>
            <a:ext cx="40778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all pending and processed leave requests.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48708" y="3997598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48708" y="4146128"/>
            <a:ext cx="4077816" cy="9525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39" name="Text 37"/>
          <p:cNvSpPr/>
          <p:nvPr/>
        </p:nvSpPr>
        <p:spPr>
          <a:xfrm>
            <a:off x="4548708" y="4211687"/>
            <a:ext cx="157452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PUT /leave/approve &amp; /reject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48708" y="4418037"/>
            <a:ext cx="407781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approves or rejects a specific leave by ID.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8615"/>
            <a:ext cx="1479798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631106"/>
            <a:ext cx="17668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11721"/>
            <a:ext cx="63696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Role-Based Dashboard Capabilities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6730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provides tailored interfaces for both employees and administrators, each equipped with the tools they need most.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32216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Employee Portal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6119" y="2703091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927" y="2863900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&amp; personalised home screen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8470" y="2703091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278" y="2863900"/>
            <a:ext cx="15589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leave application 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846909"/>
            <a:ext cx="3902943" cy="54843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927" y="4007718"/>
            <a:ext cx="35813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leave history with status indicators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232216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49701" y="2703091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510" y="2863900"/>
            <a:ext cx="15589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or reject incoming requests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72052" y="2703091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2861" y="2863900"/>
            <a:ext cx="15589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all employee records &amp; profiles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49701" y="3620095"/>
            <a:ext cx="3902943" cy="548432"/>
          </a:xfrm>
          <a:prstGeom prst="roundRect">
            <a:avLst>
              <a:gd name="adj" fmla="val 3877"/>
            </a:avLst>
          </a:prstGeom>
          <a:solidFill>
            <a:srgbClr val="F9F8F5"/>
          </a:solidFill>
          <a:ln w="19050">
            <a:solidFill>
              <a:srgbClr val="D3D1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510" y="3780904"/>
            <a:ext cx="35813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statistics &amp; advanced search filters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7106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1043285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BENEFITS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35706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Measurable Impact on HR Operations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9012"/>
            <a:ext cx="8151763" cy="4564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53937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digital system dramatically reduces approval times, eliminates paperwork, and provides near-total visibility into leave activity — transforming HR efficiency from the ground up.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5528"/>
            <a:ext cx="1660847" cy="218033"/>
          </a:xfrm>
          <a:prstGeom prst="roundRect">
            <a:avLst>
              <a:gd name="adj" fmla="val 6705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9193" y="452065"/>
            <a:ext cx="1971898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 &amp; 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75382"/>
            <a:ext cx="5596607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Forward-Looking Roadmap &amp; Vision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213098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platform is designed for extensibility, with a clear pipeline of enhancements to deliver even greater value and intelligence.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1616646"/>
            <a:ext cx="214282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Planned Enhancements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6119" y="1991692"/>
            <a:ext cx="60871" cy="60871"/>
          </a:xfrm>
          <a:prstGeom prst="roundRect">
            <a:avLst>
              <a:gd name="adj" fmla="val 469435"/>
            </a:avLst>
          </a:prstGeom>
          <a:solidFill>
            <a:srgbClr val="28282F"/>
          </a:solidFill>
          <a:ln/>
        </p:spPr>
      </p:sp>
      <p:sp>
        <p:nvSpPr>
          <p:cNvPr id="8" name="Text 6"/>
          <p:cNvSpPr/>
          <p:nvPr/>
        </p:nvSpPr>
        <p:spPr>
          <a:xfrm>
            <a:off x="661615" y="1924720"/>
            <a:ext cx="376178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email &amp; SMS notifications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382217"/>
            <a:ext cx="60871" cy="60871"/>
          </a:xfrm>
          <a:prstGeom prst="roundRect">
            <a:avLst>
              <a:gd name="adj" fmla="val 469435"/>
            </a:avLst>
          </a:prstGeom>
          <a:solidFill>
            <a:srgbClr val="28282F"/>
          </a:solidFill>
          <a:ln/>
        </p:spPr>
      </p:sp>
      <p:sp>
        <p:nvSpPr>
          <p:cNvPr id="10" name="Text 8"/>
          <p:cNvSpPr/>
          <p:nvPr/>
        </p:nvSpPr>
        <p:spPr>
          <a:xfrm>
            <a:off x="661615" y="2315245"/>
            <a:ext cx="376178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mobile application for on-the-go access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2772742"/>
            <a:ext cx="60871" cy="60871"/>
          </a:xfrm>
          <a:prstGeom prst="roundRect">
            <a:avLst>
              <a:gd name="adj" fmla="val 469435"/>
            </a:avLst>
          </a:prstGeom>
          <a:solidFill>
            <a:srgbClr val="28282F"/>
          </a:solidFill>
          <a:ln/>
        </p:spPr>
      </p:sp>
      <p:sp>
        <p:nvSpPr>
          <p:cNvPr id="12" name="Text 10"/>
          <p:cNvSpPr/>
          <p:nvPr/>
        </p:nvSpPr>
        <p:spPr>
          <a:xfrm>
            <a:off x="661615" y="2705770"/>
            <a:ext cx="376178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balance tracking with carry-forward rules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163267"/>
            <a:ext cx="60871" cy="60871"/>
          </a:xfrm>
          <a:prstGeom prst="roundRect">
            <a:avLst>
              <a:gd name="adj" fmla="val 469435"/>
            </a:avLst>
          </a:prstGeom>
          <a:solidFill>
            <a:srgbClr val="28282F"/>
          </a:solidFill>
          <a:ln/>
        </p:spPr>
      </p:sp>
      <p:sp>
        <p:nvSpPr>
          <p:cNvPr id="14" name="Text 12"/>
          <p:cNvSpPr/>
          <p:nvPr/>
        </p:nvSpPr>
        <p:spPr>
          <a:xfrm>
            <a:off x="661615" y="3096295"/>
            <a:ext cx="376178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leave analytics &amp; predictive insights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553792"/>
            <a:ext cx="60871" cy="60871"/>
          </a:xfrm>
          <a:prstGeom prst="roundRect">
            <a:avLst>
              <a:gd name="adj" fmla="val 469435"/>
            </a:avLst>
          </a:prstGeom>
          <a:solidFill>
            <a:srgbClr val="28282F"/>
          </a:solidFill>
          <a:ln/>
        </p:spPr>
      </p:sp>
      <p:sp>
        <p:nvSpPr>
          <p:cNvPr id="16" name="Text 14"/>
          <p:cNvSpPr/>
          <p:nvPr/>
        </p:nvSpPr>
        <p:spPr>
          <a:xfrm>
            <a:off x="661615" y="3486820"/>
            <a:ext cx="376178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deployment for elastic scalability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6119" y="3944317"/>
            <a:ext cx="60871" cy="60871"/>
          </a:xfrm>
          <a:prstGeom prst="roundRect">
            <a:avLst>
              <a:gd name="adj" fmla="val 469435"/>
            </a:avLst>
          </a:prstGeom>
          <a:solidFill>
            <a:srgbClr val="28282F"/>
          </a:solidFill>
          <a:ln/>
        </p:spPr>
      </p:sp>
      <p:sp>
        <p:nvSpPr>
          <p:cNvPr id="18" name="Text 16"/>
          <p:cNvSpPr/>
          <p:nvPr/>
        </p:nvSpPr>
        <p:spPr>
          <a:xfrm>
            <a:off x="661615" y="3877345"/>
            <a:ext cx="376178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Multi-branch &amp; multi-region integration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7633" y="1512019"/>
            <a:ext cx="4102745" cy="2664247"/>
          </a:xfrm>
          <a:prstGeom prst="roundRect">
            <a:avLst>
              <a:gd name="adj" fmla="val 686"/>
            </a:avLst>
          </a:prstGeom>
          <a:solidFill>
            <a:srgbClr val="101014"/>
          </a:solidFill>
          <a:ln/>
        </p:spPr>
      </p:sp>
      <p:sp>
        <p:nvSpPr>
          <p:cNvPr id="20" name="Text 18"/>
          <p:cNvSpPr/>
          <p:nvPr/>
        </p:nvSpPr>
        <p:spPr>
          <a:xfrm>
            <a:off x="4759449" y="1616646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9449" y="1911623"/>
            <a:ext cx="385911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Employee Leave Management System delivers an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efficient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user-friendly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platform — engineered with a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architecture and a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design philosophy that is fully SIH-ready.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9449" y="2603376"/>
            <a:ext cx="3859113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6119" y="4293989"/>
            <a:ext cx="1959471" cy="433983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24" name="Text 22"/>
          <p:cNvSpPr/>
          <p:nvPr/>
        </p:nvSpPr>
        <p:spPr>
          <a:xfrm>
            <a:off x="617934" y="441580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Efficient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216" y="4293989"/>
            <a:ext cx="1959471" cy="433983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26" name="Text 24"/>
          <p:cNvSpPr/>
          <p:nvPr/>
        </p:nvSpPr>
        <p:spPr>
          <a:xfrm>
            <a:off x="2682032" y="441580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Scalable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24313" y="4293989"/>
            <a:ext cx="1959471" cy="433983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28" name="Text 26"/>
          <p:cNvSpPr/>
          <p:nvPr/>
        </p:nvSpPr>
        <p:spPr>
          <a:xfrm>
            <a:off x="4746129" y="441580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88410" y="4293989"/>
            <a:ext cx="1959471" cy="433983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30" name="Text 28"/>
          <p:cNvSpPr/>
          <p:nvPr/>
        </p:nvSpPr>
        <p:spPr>
          <a:xfrm>
            <a:off x="6810226" y="441580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2026-06-25T13:36:32Z</dcterms:created>
  <dcterms:modified xsi:type="dcterms:W3CDTF">2026-06-25T13:36:32Z</dcterms:modified>
</cp:coreProperties>
</file>